
<file path=[Content_Types].xml><?xml version="1.0" encoding="utf-8"?>
<Types xmlns="http://schemas.openxmlformats.org/package/2006/content-types">
  <Default ContentType="application/xml" Extension="xml"/>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89bef31349_1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89bef31349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389761ff22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389761ff22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389761ff229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389761ff229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Merge 1 and 2. Focusing on building manager.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389761ff229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389761ff229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Secondary user like friends help user</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389761ff229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389761ff229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89761ff229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389761ff229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89761ff229_6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389761ff229_6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89761ff229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389761ff229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Phase 1 Presentation</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fontScale="85000" lnSpcReduction="20000"/>
          </a:bodyPr>
          <a:lstStyle/>
          <a:p>
            <a:pPr indent="0" lvl="0" marL="0" rtl="0" algn="ctr">
              <a:spcBef>
                <a:spcPts val="0"/>
              </a:spcBef>
              <a:spcAft>
                <a:spcPts val="0"/>
              </a:spcAft>
              <a:buNone/>
            </a:pPr>
            <a:r>
              <a:rPr lang="en"/>
              <a:t>Team 2: Felix Zheng, Zirun Ye, Tong Shen, </a:t>
            </a:r>
            <a:r>
              <a:rPr lang="en"/>
              <a:t>Zijian Zhang, Ziming Fu, Jinming Wang</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149550" y="4515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Overview</a:t>
            </a:r>
            <a:endParaRPr/>
          </a:p>
          <a:p>
            <a:pPr indent="0" lvl="0" marL="0" rtl="0" algn="l">
              <a:spcBef>
                <a:spcPts val="0"/>
              </a:spcBef>
              <a:spcAft>
                <a:spcPts val="0"/>
              </a:spcAft>
              <a:buNone/>
            </a:pPr>
            <a:r>
              <a:t/>
            </a:r>
            <a:endParaRPr/>
          </a:p>
        </p:txBody>
      </p:sp>
      <p:sp>
        <p:nvSpPr>
          <p:cNvPr id="61" name="Google Shape;61;p14"/>
          <p:cNvSpPr txBox="1"/>
          <p:nvPr>
            <p:ph idx="1" type="body"/>
          </p:nvPr>
        </p:nvSpPr>
        <p:spPr>
          <a:xfrm>
            <a:off x="311700" y="1152475"/>
            <a:ext cx="8358300" cy="3416400"/>
          </a:xfrm>
          <a:prstGeom prst="rect">
            <a:avLst/>
          </a:prstGeom>
        </p:spPr>
        <p:txBody>
          <a:bodyPr anchorCtr="0" anchor="t" bIns="91425" lIns="91425" spcFirstLastPara="1" rIns="91425" wrap="square" tIns="91425">
            <a:normAutofit/>
          </a:bodyPr>
          <a:lstStyle/>
          <a:p>
            <a:pPr indent="-342900" lvl="0" marL="457200" rtl="0" algn="l">
              <a:lnSpc>
                <a:spcPct val="100000"/>
              </a:lnSpc>
              <a:spcBef>
                <a:spcPts val="0"/>
              </a:spcBef>
              <a:spcAft>
                <a:spcPts val="0"/>
              </a:spcAft>
              <a:buSzPts val="1800"/>
              <a:buAutoNum type="arabicPeriod"/>
            </a:pPr>
            <a:r>
              <a:rPr lang="en"/>
              <a:t>Four different scenarios</a:t>
            </a:r>
            <a:endParaRPr/>
          </a:p>
          <a:p>
            <a:pPr indent="-317500" lvl="1" marL="914400" rtl="0" algn="l">
              <a:lnSpc>
                <a:spcPct val="100000"/>
              </a:lnSpc>
              <a:spcBef>
                <a:spcPts val="0"/>
              </a:spcBef>
              <a:spcAft>
                <a:spcPts val="0"/>
              </a:spcAft>
              <a:buSzPts val="1400"/>
              <a:buAutoNum type="alphaLcPeriod"/>
            </a:pPr>
            <a:r>
              <a:rPr lang="en"/>
              <a:t>Wrong timing turn, collision, navigation error, injury (Given example)</a:t>
            </a:r>
            <a:endParaRPr/>
          </a:p>
          <a:p>
            <a:pPr indent="-317500" lvl="1" marL="914400" rtl="0" algn="l">
              <a:lnSpc>
                <a:spcPct val="100000"/>
              </a:lnSpc>
              <a:spcBef>
                <a:spcPts val="0"/>
              </a:spcBef>
              <a:spcAft>
                <a:spcPts val="0"/>
              </a:spcAft>
              <a:buSzPts val="1400"/>
              <a:buAutoNum type="alphaLcPeriod"/>
            </a:pPr>
            <a:r>
              <a:rPr lang="en"/>
              <a:t>inefficient route, unexpected event, delay</a:t>
            </a:r>
            <a:endParaRPr/>
          </a:p>
          <a:p>
            <a:pPr indent="-317500" lvl="1" marL="914400" rtl="0" algn="l">
              <a:lnSpc>
                <a:spcPct val="100000"/>
              </a:lnSpc>
              <a:spcBef>
                <a:spcPts val="0"/>
              </a:spcBef>
              <a:spcAft>
                <a:spcPts val="0"/>
              </a:spcAft>
              <a:buSzPts val="1400"/>
              <a:buAutoNum type="alphaLcPeriod"/>
            </a:pPr>
            <a:r>
              <a:rPr lang="en"/>
              <a:t>Crowded classroom, unclear path, anxiety, risk of collision</a:t>
            </a:r>
            <a:endParaRPr/>
          </a:p>
          <a:p>
            <a:pPr indent="-317500" lvl="1" marL="914400" rtl="0" algn="l">
              <a:lnSpc>
                <a:spcPct val="100000"/>
              </a:lnSpc>
              <a:spcBef>
                <a:spcPts val="0"/>
              </a:spcBef>
              <a:spcAft>
                <a:spcPts val="0"/>
              </a:spcAft>
              <a:buSzPts val="1400"/>
              <a:buAutoNum type="alphaLcPeriod"/>
            </a:pPr>
            <a:r>
              <a:rPr lang="en"/>
              <a:t>Fall incident, lost cane, no assistance</a:t>
            </a:r>
            <a:endParaRPr/>
          </a:p>
          <a:p>
            <a:pPr indent="-342900" lvl="0" marL="457200" rtl="0" algn="l">
              <a:lnSpc>
                <a:spcPct val="100000"/>
              </a:lnSpc>
              <a:spcBef>
                <a:spcPts val="0"/>
              </a:spcBef>
              <a:spcAft>
                <a:spcPts val="0"/>
              </a:spcAft>
              <a:buSzPts val="1800"/>
              <a:buAutoNum type="arabicPeriod"/>
            </a:pPr>
            <a:r>
              <a:rPr lang="en"/>
              <a:t>Analysis the most significant scenarios</a:t>
            </a:r>
            <a:endParaRPr/>
          </a:p>
          <a:p>
            <a:pPr indent="0" lvl="0" marL="0" rtl="0" algn="l">
              <a:lnSpc>
                <a:spcPct val="100000"/>
              </a:lnSpc>
              <a:spcBef>
                <a:spcPts val="0"/>
              </a:spcBef>
              <a:spcAft>
                <a:spcPts val="0"/>
              </a:spcAft>
              <a:buNone/>
            </a:pPr>
            <a:r>
              <a:t/>
            </a:r>
            <a:endParaRPr/>
          </a:p>
        </p:txBody>
      </p:sp>
      <p:sp>
        <p:nvSpPr>
          <p:cNvPr id="62" name="Google Shape;62;p14"/>
          <p:cNvSpPr txBox="1"/>
          <p:nvPr/>
        </p:nvSpPr>
        <p:spPr>
          <a:xfrm>
            <a:off x="4613150" y="1220625"/>
            <a:ext cx="39993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2"/>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5"/>
          <p:cNvSpPr txBox="1"/>
          <p:nvPr>
            <p:ph type="title"/>
          </p:nvPr>
        </p:nvSpPr>
        <p:spPr>
          <a:xfrm>
            <a:off x="149550" y="4515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AS-IS TO-BE Scenario 1 </a:t>
            </a:r>
            <a:endParaRPr/>
          </a:p>
        </p:txBody>
      </p:sp>
      <p:sp>
        <p:nvSpPr>
          <p:cNvPr id="68" name="Google Shape;68;p15"/>
          <p:cNvSpPr txBox="1"/>
          <p:nvPr>
            <p:ph idx="1" type="body"/>
          </p:nvPr>
        </p:nvSpPr>
        <p:spPr>
          <a:xfrm>
            <a:off x="311700" y="1152475"/>
            <a:ext cx="4260300" cy="3416400"/>
          </a:xfrm>
          <a:prstGeom prst="rect">
            <a:avLst/>
          </a:prstGeom>
        </p:spPr>
        <p:txBody>
          <a:bodyPr anchorCtr="0" anchor="t" bIns="91425" lIns="91425" spcFirstLastPara="1" rIns="91425" wrap="square" tIns="91425">
            <a:normAutofit/>
          </a:bodyPr>
          <a:lstStyle/>
          <a:p>
            <a:pPr indent="0" lvl="0" marL="0" rtl="0" algn="l">
              <a:lnSpc>
                <a:spcPct val="100000"/>
              </a:lnSpc>
              <a:spcBef>
                <a:spcPts val="0"/>
              </a:spcBef>
              <a:spcAft>
                <a:spcPts val="0"/>
              </a:spcAft>
              <a:buClr>
                <a:schemeClr val="dk1"/>
              </a:buClr>
              <a:buSzPts val="1100"/>
              <a:buFont typeface="Arial"/>
              <a:buNone/>
            </a:pPr>
            <a:r>
              <a:rPr lang="en"/>
              <a:t>AS-IS Scenario</a:t>
            </a:r>
            <a:endParaRPr/>
          </a:p>
          <a:p>
            <a:pPr indent="0" lvl="0" marL="0" rtl="0" algn="l">
              <a:lnSpc>
                <a:spcPct val="100000"/>
              </a:lnSpc>
              <a:spcBef>
                <a:spcPts val="0"/>
              </a:spcBef>
              <a:spcAft>
                <a:spcPts val="0"/>
              </a:spcAft>
              <a:buClr>
                <a:schemeClr val="dk1"/>
              </a:buClr>
              <a:buSzPts val="1100"/>
              <a:buFont typeface="Arial"/>
              <a:buNone/>
            </a:pPr>
            <a:r>
              <a:rPr lang="en"/>
              <a:t>• Stevie is trying to go to his next</a:t>
            </a:r>
            <a:endParaRPr/>
          </a:p>
          <a:p>
            <a:pPr indent="0" lvl="0" marL="0" rtl="0" algn="l">
              <a:lnSpc>
                <a:spcPct val="100000"/>
              </a:lnSpc>
              <a:spcBef>
                <a:spcPts val="0"/>
              </a:spcBef>
              <a:spcAft>
                <a:spcPts val="0"/>
              </a:spcAft>
              <a:buClr>
                <a:schemeClr val="dk1"/>
              </a:buClr>
              <a:buSzPts val="1100"/>
              <a:buFont typeface="Arial"/>
              <a:buNone/>
            </a:pPr>
            <a:r>
              <a:rPr lang="en"/>
              <a:t>classroom. He knows he needs to</a:t>
            </a:r>
            <a:endParaRPr/>
          </a:p>
          <a:p>
            <a:pPr indent="0" lvl="0" marL="0" rtl="0" algn="l">
              <a:lnSpc>
                <a:spcPct val="100000"/>
              </a:lnSpc>
              <a:spcBef>
                <a:spcPts val="0"/>
              </a:spcBef>
              <a:spcAft>
                <a:spcPts val="0"/>
              </a:spcAft>
              <a:buClr>
                <a:schemeClr val="dk1"/>
              </a:buClr>
              <a:buSzPts val="1100"/>
              <a:buFont typeface="Arial"/>
              <a:buNone/>
            </a:pPr>
            <a:r>
              <a:rPr lang="en"/>
              <a:t>walk ahead a few steps, and then</a:t>
            </a:r>
            <a:endParaRPr/>
          </a:p>
          <a:p>
            <a:pPr indent="0" lvl="0" marL="0" rtl="0" algn="l">
              <a:lnSpc>
                <a:spcPct val="100000"/>
              </a:lnSpc>
              <a:spcBef>
                <a:spcPts val="0"/>
              </a:spcBef>
              <a:spcAft>
                <a:spcPts val="0"/>
              </a:spcAft>
              <a:buClr>
                <a:schemeClr val="dk1"/>
              </a:buClr>
              <a:buSzPts val="1100"/>
              <a:buFont typeface="Arial"/>
              <a:buNone/>
            </a:pPr>
            <a:r>
              <a:rPr lang="en"/>
              <a:t>turn left around the corner.</a:t>
            </a:r>
            <a:endParaRPr/>
          </a:p>
          <a:p>
            <a:pPr indent="0" lvl="0" marL="0" rtl="0" algn="l">
              <a:lnSpc>
                <a:spcPct val="100000"/>
              </a:lnSpc>
              <a:spcBef>
                <a:spcPts val="0"/>
              </a:spcBef>
              <a:spcAft>
                <a:spcPts val="0"/>
              </a:spcAft>
              <a:buClr>
                <a:schemeClr val="dk1"/>
              </a:buClr>
              <a:buSzPts val="1100"/>
              <a:buFont typeface="Arial"/>
              <a:buNone/>
            </a:pPr>
            <a:r>
              <a:rPr lang="en"/>
              <a:t>• However, he is not sure when to</a:t>
            </a:r>
            <a:endParaRPr/>
          </a:p>
          <a:p>
            <a:pPr indent="0" lvl="0" marL="0" rtl="0" algn="l">
              <a:lnSpc>
                <a:spcPct val="100000"/>
              </a:lnSpc>
              <a:spcBef>
                <a:spcPts val="0"/>
              </a:spcBef>
              <a:spcAft>
                <a:spcPts val="0"/>
              </a:spcAft>
              <a:buClr>
                <a:schemeClr val="dk1"/>
              </a:buClr>
              <a:buSzPts val="1100"/>
              <a:buFont typeface="Arial"/>
              <a:buNone/>
            </a:pPr>
            <a:r>
              <a:rPr lang="en"/>
              <a:t>turn.</a:t>
            </a:r>
            <a:endParaRPr/>
          </a:p>
          <a:p>
            <a:pPr indent="0" lvl="0" marL="0" rtl="0" algn="l">
              <a:lnSpc>
                <a:spcPct val="100000"/>
              </a:lnSpc>
              <a:spcBef>
                <a:spcPts val="0"/>
              </a:spcBef>
              <a:spcAft>
                <a:spcPts val="0"/>
              </a:spcAft>
              <a:buClr>
                <a:schemeClr val="dk1"/>
              </a:buClr>
              <a:buSzPts val="1100"/>
              <a:buFont typeface="Arial"/>
              <a:buNone/>
            </a:pPr>
            <a:r>
              <a:rPr lang="en"/>
              <a:t>• He took a guess, but turned too</a:t>
            </a:r>
            <a:endParaRPr/>
          </a:p>
          <a:p>
            <a:pPr indent="0" lvl="0" marL="0" rtl="0" algn="l">
              <a:lnSpc>
                <a:spcPct val="100000"/>
              </a:lnSpc>
              <a:spcBef>
                <a:spcPts val="0"/>
              </a:spcBef>
              <a:spcAft>
                <a:spcPts val="0"/>
              </a:spcAft>
              <a:buClr>
                <a:schemeClr val="dk1"/>
              </a:buClr>
              <a:buSzPts val="1100"/>
              <a:buFont typeface="Arial"/>
              <a:buNone/>
            </a:pPr>
            <a:r>
              <a:rPr lang="en"/>
              <a:t>early, hit the wall and hurt his head.</a:t>
            </a:r>
            <a:endParaRPr/>
          </a:p>
        </p:txBody>
      </p:sp>
      <p:sp>
        <p:nvSpPr>
          <p:cNvPr id="69" name="Google Shape;69;p15"/>
          <p:cNvSpPr txBox="1"/>
          <p:nvPr/>
        </p:nvSpPr>
        <p:spPr>
          <a:xfrm>
            <a:off x="4613150" y="1220625"/>
            <a:ext cx="3999300" cy="350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TO-BE Scenario</a:t>
            </a:r>
            <a:endParaRPr sz="1800">
              <a:solidFill>
                <a:schemeClr val="dk2"/>
              </a:solidFill>
            </a:endParaRPr>
          </a:p>
          <a:p>
            <a:pPr indent="0" lvl="0" marL="0" rtl="0" algn="l">
              <a:spcBef>
                <a:spcPts val="0"/>
              </a:spcBef>
              <a:spcAft>
                <a:spcPts val="0"/>
              </a:spcAft>
              <a:buNone/>
            </a:pPr>
            <a:r>
              <a:rPr lang="en" sz="1800">
                <a:solidFill>
                  <a:schemeClr val="dk2"/>
                </a:solidFill>
              </a:rPr>
              <a:t>The THEIA app asks Stevie to give his current location and the destination.</a:t>
            </a:r>
            <a:endParaRPr sz="1800">
              <a:solidFill>
                <a:schemeClr val="dk2"/>
              </a:solidFill>
            </a:endParaRPr>
          </a:p>
          <a:p>
            <a:pPr indent="0" lvl="0" marL="0" rtl="0" algn="l">
              <a:spcBef>
                <a:spcPts val="0"/>
              </a:spcBef>
              <a:spcAft>
                <a:spcPts val="0"/>
              </a:spcAft>
              <a:buNone/>
            </a:pPr>
            <a:r>
              <a:rPr lang="en" sz="1800">
                <a:solidFill>
                  <a:schemeClr val="dk2"/>
                </a:solidFill>
              </a:rPr>
              <a:t>• The app calculates the route from</a:t>
            </a:r>
            <a:endParaRPr sz="1800">
              <a:solidFill>
                <a:schemeClr val="dk2"/>
              </a:solidFill>
            </a:endParaRPr>
          </a:p>
          <a:p>
            <a:pPr indent="0" lvl="0" marL="0" rtl="0" algn="l">
              <a:spcBef>
                <a:spcPts val="0"/>
              </a:spcBef>
              <a:spcAft>
                <a:spcPts val="0"/>
              </a:spcAft>
              <a:buNone/>
            </a:pPr>
            <a:r>
              <a:rPr lang="en" sz="1800">
                <a:solidFill>
                  <a:schemeClr val="dk2"/>
                </a:solidFill>
              </a:rPr>
              <a:t>the current location to the</a:t>
            </a:r>
            <a:endParaRPr sz="1800">
              <a:solidFill>
                <a:schemeClr val="dk2"/>
              </a:solidFill>
            </a:endParaRPr>
          </a:p>
          <a:p>
            <a:pPr indent="0" lvl="0" marL="0" rtl="0" algn="l">
              <a:spcBef>
                <a:spcPts val="0"/>
              </a:spcBef>
              <a:spcAft>
                <a:spcPts val="0"/>
              </a:spcAft>
              <a:buNone/>
            </a:pPr>
            <a:r>
              <a:rPr lang="en" sz="1800">
                <a:solidFill>
                  <a:schemeClr val="dk2"/>
                </a:solidFill>
              </a:rPr>
              <a:t>destination.</a:t>
            </a:r>
            <a:endParaRPr sz="1800">
              <a:solidFill>
                <a:schemeClr val="dk2"/>
              </a:solidFill>
            </a:endParaRPr>
          </a:p>
          <a:p>
            <a:pPr indent="0" lvl="0" marL="0" rtl="0" algn="l">
              <a:spcBef>
                <a:spcPts val="0"/>
              </a:spcBef>
              <a:spcAft>
                <a:spcPts val="0"/>
              </a:spcAft>
              <a:buNone/>
            </a:pPr>
            <a:r>
              <a:rPr lang="en" sz="1800">
                <a:solidFill>
                  <a:schemeClr val="dk2"/>
                </a:solidFill>
              </a:rPr>
              <a:t>• THEIA tells Stevie to “walk ahead 10 steps, then turn left”</a:t>
            </a:r>
            <a:endParaRPr sz="1800">
              <a:solidFill>
                <a:schemeClr val="dk2"/>
              </a:solidFill>
            </a:endParaRPr>
          </a:p>
          <a:p>
            <a:pPr indent="0" lvl="0" marL="0" rtl="0" algn="l">
              <a:spcBef>
                <a:spcPts val="0"/>
              </a:spcBef>
              <a:spcAft>
                <a:spcPts val="0"/>
              </a:spcAft>
              <a:buNone/>
            </a:pPr>
            <a:r>
              <a:rPr lang="en" sz="1800">
                <a:solidFill>
                  <a:schemeClr val="dk2"/>
                </a:solidFill>
              </a:rPr>
              <a:t>• </a:t>
            </a:r>
            <a:r>
              <a:rPr lang="en" sz="1800">
                <a:solidFill>
                  <a:schemeClr val="dk2"/>
                </a:solidFill>
              </a:rPr>
              <a:t>Stevie successfully arrives at his destination.</a:t>
            </a:r>
            <a:endParaRPr sz="1800">
              <a:solidFill>
                <a:schemeClr val="dk2"/>
              </a:solidFill>
            </a:endParaRPr>
          </a:p>
          <a:p>
            <a:pPr indent="0" lvl="0" marL="0" rtl="0" algn="l">
              <a:spcBef>
                <a:spcPts val="0"/>
              </a:spcBef>
              <a:spcAft>
                <a:spcPts val="0"/>
              </a:spcAft>
              <a:buNone/>
            </a:pPr>
            <a:r>
              <a:t/>
            </a:r>
            <a:endParaRPr sz="1800">
              <a:solidFill>
                <a:schemeClr val="dk2"/>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en"/>
              <a:t>AS-IS TO-BE Scenario 2</a:t>
            </a:r>
            <a:endParaRPr/>
          </a:p>
          <a:p>
            <a:pPr indent="0" lvl="0" marL="0" rtl="0" algn="l">
              <a:spcBef>
                <a:spcPts val="0"/>
              </a:spcBef>
              <a:spcAft>
                <a:spcPts val="0"/>
              </a:spcAft>
              <a:buNone/>
            </a:pPr>
            <a:r>
              <a:t/>
            </a:r>
            <a:endParaRPr/>
          </a:p>
        </p:txBody>
      </p:sp>
      <p:sp>
        <p:nvSpPr>
          <p:cNvPr id="75" name="Google Shape;75;p16"/>
          <p:cNvSpPr txBox="1"/>
          <p:nvPr>
            <p:ph idx="1" type="body"/>
          </p:nvPr>
        </p:nvSpPr>
        <p:spPr>
          <a:xfrm>
            <a:off x="311700" y="1152475"/>
            <a:ext cx="4038300" cy="3416400"/>
          </a:xfrm>
          <a:prstGeom prst="rect">
            <a:avLst/>
          </a:prstGeom>
        </p:spPr>
        <p:txBody>
          <a:bodyPr anchorCtr="0" anchor="t" bIns="91425" lIns="91425" spcFirstLastPara="1" rIns="91425" wrap="square" tIns="91425">
            <a:normAutofit/>
          </a:bodyPr>
          <a:lstStyle/>
          <a:p>
            <a:pPr indent="0" lvl="0" marL="0" rtl="0" algn="l">
              <a:lnSpc>
                <a:spcPct val="100000"/>
              </a:lnSpc>
              <a:spcBef>
                <a:spcPts val="0"/>
              </a:spcBef>
              <a:spcAft>
                <a:spcPts val="0"/>
              </a:spcAft>
              <a:buClr>
                <a:schemeClr val="dk1"/>
              </a:buClr>
              <a:buSzPts val="1100"/>
              <a:buFont typeface="Arial"/>
              <a:buNone/>
            </a:pPr>
            <a:r>
              <a:rPr lang="en"/>
              <a:t>AS-IS Scenario</a:t>
            </a:r>
            <a:endParaRPr/>
          </a:p>
          <a:p>
            <a:pPr indent="0" lvl="0" marL="0" rtl="0" algn="l">
              <a:lnSpc>
                <a:spcPct val="100000"/>
              </a:lnSpc>
              <a:spcBef>
                <a:spcPts val="0"/>
              </a:spcBef>
              <a:spcAft>
                <a:spcPts val="0"/>
              </a:spcAft>
              <a:buNone/>
            </a:pPr>
            <a:r>
              <a:rPr lang="en"/>
              <a:t>• Emma is walking to her next class, she knows she need to walk 3 steps ahead and take a right turn to a route she’s familiar with.</a:t>
            </a:r>
            <a:endParaRPr/>
          </a:p>
          <a:p>
            <a:pPr indent="0" lvl="0" marL="0" rtl="0" algn="l">
              <a:lnSpc>
                <a:spcPct val="100000"/>
              </a:lnSpc>
              <a:spcBef>
                <a:spcPts val="0"/>
              </a:spcBef>
              <a:spcAft>
                <a:spcPts val="0"/>
              </a:spcAft>
              <a:buNone/>
            </a:pPr>
            <a:r>
              <a:rPr lang="en"/>
              <a:t>• However, this route is long, crowded and currently full with obstacles due to construction.</a:t>
            </a:r>
            <a:endParaRPr/>
          </a:p>
          <a:p>
            <a:pPr indent="0" lvl="0" marL="0" rtl="0" algn="l">
              <a:lnSpc>
                <a:spcPct val="100000"/>
              </a:lnSpc>
              <a:spcBef>
                <a:spcPts val="0"/>
              </a:spcBef>
              <a:spcAft>
                <a:spcPts val="0"/>
              </a:spcAft>
              <a:buClr>
                <a:schemeClr val="dk1"/>
              </a:buClr>
              <a:buSzPts val="1100"/>
              <a:buFont typeface="Arial"/>
              <a:buNone/>
            </a:pPr>
            <a:r>
              <a:rPr lang="en"/>
              <a:t>• Emma arrived to her next class 15 minutes late, and almost got hit by a debris.</a:t>
            </a:r>
            <a:endParaRPr/>
          </a:p>
        </p:txBody>
      </p:sp>
      <p:sp>
        <p:nvSpPr>
          <p:cNvPr id="76" name="Google Shape;76;p16"/>
          <p:cNvSpPr txBox="1"/>
          <p:nvPr>
            <p:ph idx="1" type="body"/>
          </p:nvPr>
        </p:nvSpPr>
        <p:spPr>
          <a:xfrm>
            <a:off x="4794000" y="1152475"/>
            <a:ext cx="4038300" cy="3416400"/>
          </a:xfrm>
          <a:prstGeom prst="rect">
            <a:avLst/>
          </a:prstGeom>
        </p:spPr>
        <p:txBody>
          <a:bodyPr anchorCtr="0" anchor="t" bIns="91425" lIns="91425" spcFirstLastPara="1" rIns="91425" wrap="square" tIns="91425">
            <a:normAutofit/>
          </a:bodyPr>
          <a:lstStyle/>
          <a:p>
            <a:pPr indent="0" lvl="0" marL="0" rtl="0" algn="l">
              <a:lnSpc>
                <a:spcPct val="100000"/>
              </a:lnSpc>
              <a:spcBef>
                <a:spcPts val="0"/>
              </a:spcBef>
              <a:spcAft>
                <a:spcPts val="0"/>
              </a:spcAft>
              <a:buClr>
                <a:schemeClr val="dk1"/>
              </a:buClr>
              <a:buSzPts val="1100"/>
              <a:buFont typeface="Arial"/>
              <a:buNone/>
            </a:pPr>
            <a:r>
              <a:rPr lang="en"/>
              <a:t>TO-BE</a:t>
            </a:r>
            <a:r>
              <a:rPr lang="en"/>
              <a:t> Scenario</a:t>
            </a:r>
            <a:endParaRPr/>
          </a:p>
          <a:p>
            <a:pPr indent="0" lvl="0" marL="0" rtl="0" algn="l">
              <a:lnSpc>
                <a:spcPct val="100000"/>
              </a:lnSpc>
              <a:spcBef>
                <a:spcPts val="0"/>
              </a:spcBef>
              <a:spcAft>
                <a:spcPts val="0"/>
              </a:spcAft>
              <a:buNone/>
            </a:pPr>
            <a:r>
              <a:rPr lang="en"/>
              <a:t>• The THEIA app asks Emma to give her current location and destination.</a:t>
            </a:r>
            <a:endParaRPr/>
          </a:p>
          <a:p>
            <a:pPr indent="0" lvl="0" marL="0" rtl="0" algn="l">
              <a:lnSpc>
                <a:spcPct val="100000"/>
              </a:lnSpc>
              <a:spcBef>
                <a:spcPts val="0"/>
              </a:spcBef>
              <a:spcAft>
                <a:spcPts val="0"/>
              </a:spcAft>
              <a:buNone/>
            </a:pPr>
            <a:r>
              <a:rPr lang="en"/>
              <a:t>• The app calculates the shortest route with no construction plan.</a:t>
            </a:r>
            <a:endParaRPr/>
          </a:p>
          <a:p>
            <a:pPr indent="0" lvl="0" marL="0" rtl="0" algn="l">
              <a:lnSpc>
                <a:spcPct val="100000"/>
              </a:lnSpc>
              <a:spcBef>
                <a:spcPts val="0"/>
              </a:spcBef>
              <a:spcAft>
                <a:spcPts val="0"/>
              </a:spcAft>
              <a:buClr>
                <a:schemeClr val="dk1"/>
              </a:buClr>
              <a:buSzPts val="1100"/>
              <a:buFont typeface="Arial"/>
              <a:buNone/>
            </a:pPr>
            <a:r>
              <a:rPr lang="en"/>
              <a:t>• The app tells Emma the shortest safest route, now Emma arrived to her next class on time.</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en"/>
              <a:t>AS-IS TO-BE Scenario 3</a:t>
            </a:r>
            <a:endParaRPr/>
          </a:p>
          <a:p>
            <a:pPr indent="0" lvl="0" marL="0" rtl="0" algn="l">
              <a:spcBef>
                <a:spcPts val="0"/>
              </a:spcBef>
              <a:spcAft>
                <a:spcPts val="0"/>
              </a:spcAft>
              <a:buNone/>
            </a:pPr>
            <a:r>
              <a:t/>
            </a:r>
            <a:endParaRPr/>
          </a:p>
        </p:txBody>
      </p:sp>
      <p:sp>
        <p:nvSpPr>
          <p:cNvPr id="82" name="Google Shape;82;p17"/>
          <p:cNvSpPr txBox="1"/>
          <p:nvPr>
            <p:ph idx="1" type="body"/>
          </p:nvPr>
        </p:nvSpPr>
        <p:spPr>
          <a:xfrm>
            <a:off x="311700" y="1152475"/>
            <a:ext cx="3371700" cy="3417600"/>
          </a:xfrm>
          <a:prstGeom prst="rect">
            <a:avLst/>
          </a:prstGeom>
        </p:spPr>
        <p:txBody>
          <a:bodyPr anchorCtr="0" anchor="t" bIns="91425" lIns="91425" spcFirstLastPara="1" rIns="91425" wrap="square" tIns="91425">
            <a:normAutofit fontScale="92500" lnSpcReduction="10000"/>
          </a:bodyPr>
          <a:lstStyle/>
          <a:p>
            <a:pPr indent="0" lvl="0" marL="0" rtl="0" algn="l">
              <a:lnSpc>
                <a:spcPct val="100000"/>
              </a:lnSpc>
              <a:spcBef>
                <a:spcPts val="0"/>
              </a:spcBef>
              <a:spcAft>
                <a:spcPts val="0"/>
              </a:spcAft>
              <a:buNone/>
            </a:pPr>
            <a:r>
              <a:rPr lang="en">
                <a:solidFill>
                  <a:schemeClr val="dk1"/>
                </a:solidFill>
              </a:rPr>
              <a:t>TO-BE Scenario</a:t>
            </a:r>
            <a:endParaRPr>
              <a:solidFill>
                <a:schemeClr val="dk1"/>
              </a:solidFill>
            </a:endParaRPr>
          </a:p>
          <a:p>
            <a:pPr indent="0" lvl="0" marL="0" rtl="0" algn="l">
              <a:spcBef>
                <a:spcPts val="0"/>
              </a:spcBef>
              <a:spcAft>
                <a:spcPts val="1200"/>
              </a:spcAft>
              <a:buNone/>
            </a:pPr>
            <a:r>
              <a:rPr lang="en">
                <a:solidFill>
                  <a:schemeClr val="dk1"/>
                </a:solidFill>
              </a:rPr>
              <a:t>Jerry</a:t>
            </a:r>
            <a:r>
              <a:rPr lang="en">
                <a:solidFill>
                  <a:schemeClr val="dk1"/>
                </a:solidFill>
              </a:rPr>
              <a:t> has just finished class and wants to leave the room. The classroom is tightly packed with chairs and desks, and some students are still sitting or moving around. He roughly remembers that the door is located at the front left side, but he cannot precisely determine the path. He feels anxious and worried about tripping or colliding with others.</a:t>
            </a:r>
            <a:endParaRPr>
              <a:solidFill>
                <a:schemeClr val="dk1"/>
              </a:solidFill>
            </a:endParaRPr>
          </a:p>
        </p:txBody>
      </p:sp>
      <p:sp>
        <p:nvSpPr>
          <p:cNvPr id="83" name="Google Shape;83;p17"/>
          <p:cNvSpPr txBox="1"/>
          <p:nvPr/>
        </p:nvSpPr>
        <p:spPr>
          <a:xfrm>
            <a:off x="4961875" y="1152475"/>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84" name="Google Shape;84;p17"/>
          <p:cNvSpPr txBox="1"/>
          <p:nvPr/>
        </p:nvSpPr>
        <p:spPr>
          <a:xfrm>
            <a:off x="4726625" y="261225"/>
            <a:ext cx="3999300" cy="5262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50">
                <a:solidFill>
                  <a:schemeClr val="dk1"/>
                </a:solidFill>
              </a:rPr>
              <a:t>TO-BE Scenario</a:t>
            </a:r>
            <a:endParaRPr sz="1350">
              <a:solidFill>
                <a:schemeClr val="dk1"/>
              </a:solidFill>
            </a:endParaRPr>
          </a:p>
          <a:p>
            <a:pPr indent="0" lvl="0" marL="0" rtl="0" algn="l">
              <a:lnSpc>
                <a:spcPct val="115000"/>
              </a:lnSpc>
              <a:spcBef>
                <a:spcPts val="1200"/>
              </a:spcBef>
              <a:spcAft>
                <a:spcPts val="0"/>
              </a:spcAft>
              <a:buNone/>
            </a:pPr>
            <a:r>
              <a:rPr lang="en" sz="1350">
                <a:solidFill>
                  <a:schemeClr val="dk1"/>
                </a:solidFill>
              </a:rPr>
              <a:t>Jerry</a:t>
            </a:r>
            <a:r>
              <a:rPr lang="en" sz="1350">
                <a:solidFill>
                  <a:schemeClr val="dk1"/>
                </a:solidFill>
              </a:rPr>
              <a:t> opens </a:t>
            </a:r>
            <a:r>
              <a:rPr b="1" lang="en" sz="1350">
                <a:solidFill>
                  <a:schemeClr val="dk1"/>
                </a:solidFill>
              </a:rPr>
              <a:t>Theia</a:t>
            </a:r>
            <a:r>
              <a:rPr lang="en" sz="1350">
                <a:solidFill>
                  <a:schemeClr val="dk1"/>
                </a:solidFill>
              </a:rPr>
              <a:t> and says, “Take me to the classroom door.” Using indoor mapping and visual sensing, Theia identifies the room layout and nearby obstacles. It generates a safe path and provides real-time spoken instructions:</a:t>
            </a:r>
            <a:endParaRPr sz="1350">
              <a:solidFill>
                <a:schemeClr val="dk1"/>
              </a:solidFill>
            </a:endParaRPr>
          </a:p>
          <a:p>
            <a:pPr indent="0" lvl="0" marL="0" rtl="0" algn="l">
              <a:lnSpc>
                <a:spcPct val="115000"/>
              </a:lnSpc>
              <a:spcBef>
                <a:spcPts val="1200"/>
              </a:spcBef>
              <a:spcAft>
                <a:spcPts val="0"/>
              </a:spcAft>
              <a:buNone/>
            </a:pPr>
            <a:r>
              <a:rPr lang="en" sz="1350">
                <a:solidFill>
                  <a:schemeClr val="dk1"/>
                </a:solidFill>
              </a:rPr>
              <a:t>“One chair ahead, please move slightly to the right.” “Now walk forward three steps — the path is clear.” “The door is one meter ahead.”</a:t>
            </a:r>
            <a:endParaRPr sz="1350">
              <a:solidFill>
                <a:schemeClr val="dk1"/>
              </a:solidFill>
            </a:endParaRPr>
          </a:p>
          <a:p>
            <a:pPr indent="0" lvl="0" marL="0" rtl="0" algn="l">
              <a:lnSpc>
                <a:spcPct val="115000"/>
              </a:lnSpc>
              <a:spcBef>
                <a:spcPts val="1200"/>
              </a:spcBef>
              <a:spcAft>
                <a:spcPts val="0"/>
              </a:spcAft>
              <a:buNone/>
            </a:pPr>
            <a:r>
              <a:rPr lang="en" sz="1350">
                <a:solidFill>
                  <a:schemeClr val="dk1"/>
                </a:solidFill>
              </a:rPr>
              <a:t>When another student passes in front of him, Theia detects the moving object and alerts him:</a:t>
            </a:r>
            <a:endParaRPr sz="1350">
              <a:solidFill>
                <a:schemeClr val="dk1"/>
              </a:solidFill>
            </a:endParaRPr>
          </a:p>
          <a:p>
            <a:pPr indent="0" lvl="0" marL="0" rtl="0" algn="l">
              <a:lnSpc>
                <a:spcPct val="115000"/>
              </a:lnSpc>
              <a:spcBef>
                <a:spcPts val="1200"/>
              </a:spcBef>
              <a:spcAft>
                <a:spcPts val="0"/>
              </a:spcAft>
              <a:buNone/>
            </a:pPr>
            <a:r>
              <a:rPr lang="en" sz="1350">
                <a:solidFill>
                  <a:schemeClr val="dk1"/>
                </a:solidFill>
              </a:rPr>
              <a:t> “Someone is walking ahead. Please wait two seconds before continuing.” </a:t>
            </a:r>
            <a:endParaRPr sz="135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sz="1350">
                <a:solidFill>
                  <a:schemeClr val="dk1"/>
                </a:solidFill>
              </a:rPr>
              <a:t>Following the step-by-step voice guidance, Jerry avoids obstacles and safely reaches the door.</a:t>
            </a:r>
            <a:endParaRPr sz="135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sz="1350">
              <a:solidFill>
                <a:schemeClr val="dk1"/>
              </a:solidFill>
            </a:endParaRPr>
          </a:p>
          <a:p>
            <a:pPr indent="0" lvl="0" marL="0" rtl="0" algn="l">
              <a:spcBef>
                <a:spcPts val="1200"/>
              </a:spcBef>
              <a:spcAft>
                <a:spcPts val="0"/>
              </a:spcAft>
              <a:buNone/>
            </a:pPr>
            <a:r>
              <a:t/>
            </a:r>
            <a:endParaRPr sz="1350">
              <a:solidFill>
                <a:schemeClr val="dk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en"/>
              <a:t>AS-IS TO-BE Scenario 4</a:t>
            </a:r>
            <a:endParaRPr/>
          </a:p>
          <a:p>
            <a:pPr indent="0" lvl="0" marL="0" rtl="0" algn="l">
              <a:spcBef>
                <a:spcPts val="0"/>
              </a:spcBef>
              <a:spcAft>
                <a:spcPts val="0"/>
              </a:spcAft>
              <a:buClr>
                <a:schemeClr val="dk1"/>
              </a:buClr>
              <a:buSzPct val="39285"/>
              <a:buFont typeface="Arial"/>
              <a:buNone/>
            </a:pPr>
            <a:r>
              <a:t/>
            </a:r>
            <a:endParaRPr/>
          </a:p>
          <a:p>
            <a:pPr indent="0" lvl="0" marL="0" rtl="0" algn="l">
              <a:spcBef>
                <a:spcPts val="0"/>
              </a:spcBef>
              <a:spcAft>
                <a:spcPts val="0"/>
              </a:spcAft>
              <a:buNone/>
            </a:pPr>
            <a:r>
              <a:t/>
            </a:r>
            <a:endParaRPr/>
          </a:p>
        </p:txBody>
      </p:sp>
      <p:sp>
        <p:nvSpPr>
          <p:cNvPr id="90" name="Google Shape;90;p18"/>
          <p:cNvSpPr txBox="1"/>
          <p:nvPr>
            <p:ph idx="1" type="body"/>
          </p:nvPr>
        </p:nvSpPr>
        <p:spPr>
          <a:xfrm>
            <a:off x="311700" y="1151300"/>
            <a:ext cx="3999300" cy="3417600"/>
          </a:xfrm>
          <a:prstGeom prst="rect">
            <a:avLst/>
          </a:prstGeom>
        </p:spPr>
        <p:txBody>
          <a:bodyPr anchorCtr="0" anchor="t" bIns="91425" lIns="91425" spcFirstLastPara="1" rIns="91425" wrap="square" tIns="91425">
            <a:normAutofit/>
          </a:bodyPr>
          <a:lstStyle/>
          <a:p>
            <a:pPr indent="0" lvl="0" marL="0" rtl="0" algn="l">
              <a:lnSpc>
                <a:spcPct val="100000"/>
              </a:lnSpc>
              <a:spcBef>
                <a:spcPts val="0"/>
              </a:spcBef>
              <a:spcAft>
                <a:spcPts val="0"/>
              </a:spcAft>
              <a:buClr>
                <a:schemeClr val="dk1"/>
              </a:buClr>
              <a:buSzPts val="1100"/>
              <a:buFont typeface="Arial"/>
              <a:buNone/>
            </a:pPr>
            <a:r>
              <a:rPr lang="en"/>
              <a:t>AS-IS Scenario</a:t>
            </a:r>
            <a:endParaRPr/>
          </a:p>
          <a:p>
            <a:pPr indent="0" lvl="0" marL="0" rtl="0" algn="l">
              <a:lnSpc>
                <a:spcPct val="100000"/>
              </a:lnSpc>
              <a:spcBef>
                <a:spcPts val="0"/>
              </a:spcBef>
              <a:spcAft>
                <a:spcPts val="0"/>
              </a:spcAft>
              <a:buNone/>
            </a:pPr>
            <a:r>
              <a:rPr lang="en"/>
              <a:t>While walking inside a building, Tom accidentally trips over a step and falls to the ground.</a:t>
            </a:r>
            <a:endParaRPr/>
          </a:p>
          <a:p>
            <a:pPr indent="0" lvl="0" marL="0" rtl="0" algn="l">
              <a:lnSpc>
                <a:spcPct val="100000"/>
              </a:lnSpc>
              <a:spcBef>
                <a:spcPts val="0"/>
              </a:spcBef>
              <a:spcAft>
                <a:spcPts val="0"/>
              </a:spcAft>
              <a:buNone/>
            </a:pPr>
            <a:r>
              <a:rPr lang="en"/>
              <a:t>However, h</a:t>
            </a:r>
            <a:r>
              <a:rPr lang="en"/>
              <a:t>e drops his cane and can’t reach it.</a:t>
            </a:r>
            <a:endParaRPr/>
          </a:p>
          <a:p>
            <a:pPr indent="0" lvl="0" marL="0" rtl="0" algn="l">
              <a:lnSpc>
                <a:spcPct val="100000"/>
              </a:lnSpc>
              <a:spcBef>
                <a:spcPts val="0"/>
              </a:spcBef>
              <a:spcAft>
                <a:spcPts val="0"/>
              </a:spcAft>
              <a:buClr>
                <a:schemeClr val="dk1"/>
              </a:buClr>
              <a:buSzPts val="1100"/>
              <a:buFont typeface="Arial"/>
              <a:buNone/>
            </a:pPr>
            <a:r>
              <a:rPr lang="en"/>
              <a:t>He calls for help, but no one is nearby to help him.</a:t>
            </a:r>
            <a:endParaRPr/>
          </a:p>
          <a:p>
            <a:pPr indent="0" lvl="0" marL="0" rtl="0" algn="l">
              <a:spcBef>
                <a:spcPts val="0"/>
              </a:spcBef>
              <a:spcAft>
                <a:spcPts val="1200"/>
              </a:spcAft>
              <a:buNone/>
            </a:pPr>
            <a:r>
              <a:t/>
            </a:r>
            <a:endParaRPr/>
          </a:p>
        </p:txBody>
      </p:sp>
      <p:sp>
        <p:nvSpPr>
          <p:cNvPr id="91" name="Google Shape;91;p18"/>
          <p:cNvSpPr txBox="1"/>
          <p:nvPr/>
        </p:nvSpPr>
        <p:spPr>
          <a:xfrm>
            <a:off x="4620625" y="1243850"/>
            <a:ext cx="3999300" cy="3232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TO-BE Scenario</a:t>
            </a:r>
            <a:endParaRPr sz="1800">
              <a:solidFill>
                <a:schemeClr val="dk2"/>
              </a:solidFill>
            </a:endParaRPr>
          </a:p>
          <a:p>
            <a:pPr indent="0" lvl="0" marL="0" rtl="0" algn="l">
              <a:spcBef>
                <a:spcPts val="0"/>
              </a:spcBef>
              <a:spcAft>
                <a:spcPts val="0"/>
              </a:spcAft>
              <a:buNone/>
            </a:pPr>
            <a:r>
              <a:rPr lang="en" sz="1800">
                <a:solidFill>
                  <a:schemeClr val="dk2"/>
                </a:solidFill>
              </a:rPr>
              <a:t>Tom trips and falls while walking.</a:t>
            </a:r>
            <a:endParaRPr sz="1800">
              <a:solidFill>
                <a:schemeClr val="dk2"/>
              </a:solidFill>
            </a:endParaRPr>
          </a:p>
          <a:p>
            <a:pPr indent="0" lvl="0" marL="0" rtl="0" algn="l">
              <a:spcBef>
                <a:spcPts val="0"/>
              </a:spcBef>
              <a:spcAft>
                <a:spcPts val="0"/>
              </a:spcAft>
              <a:buNone/>
            </a:pPr>
            <a:r>
              <a:rPr lang="en" sz="1800">
                <a:solidFill>
                  <a:schemeClr val="dk2"/>
                </a:solidFill>
              </a:rPr>
              <a:t>The phone’s motion sensors detect a fall.</a:t>
            </a:r>
            <a:endParaRPr sz="1800">
              <a:solidFill>
                <a:schemeClr val="dk2"/>
              </a:solidFill>
            </a:endParaRPr>
          </a:p>
          <a:p>
            <a:pPr indent="0" lvl="0" marL="0" rtl="0" algn="l">
              <a:spcBef>
                <a:spcPts val="0"/>
              </a:spcBef>
              <a:spcAft>
                <a:spcPts val="0"/>
              </a:spcAft>
              <a:buNone/>
            </a:pPr>
            <a:r>
              <a:rPr lang="en" sz="1800">
                <a:solidFill>
                  <a:schemeClr val="dk2"/>
                </a:solidFill>
              </a:rPr>
              <a:t>Theia asks “are you okay?” say “yes” to cancel, or stay silent to call for help.</a:t>
            </a:r>
            <a:endParaRPr sz="1800">
              <a:solidFill>
                <a:schemeClr val="dk2"/>
              </a:solidFill>
            </a:endParaRPr>
          </a:p>
          <a:p>
            <a:pPr indent="0" lvl="0" marL="0" rtl="0" algn="l">
              <a:spcBef>
                <a:spcPts val="0"/>
              </a:spcBef>
              <a:spcAft>
                <a:spcPts val="0"/>
              </a:spcAft>
              <a:buNone/>
            </a:pPr>
            <a:r>
              <a:rPr lang="en" sz="1800">
                <a:solidFill>
                  <a:schemeClr val="dk2"/>
                </a:solidFill>
              </a:rPr>
              <a:t>When Tom doesn’t respond, Theia automatically sends an alert message and GPS location to his family and 911.</a:t>
            </a:r>
            <a:endParaRPr sz="1800">
              <a:solidFill>
                <a:schemeClr val="dk2"/>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Top Priority AS-IS TO-BE Scenario 1</a:t>
            </a:r>
            <a:endParaRPr/>
          </a:p>
        </p:txBody>
      </p:sp>
      <p:sp>
        <p:nvSpPr>
          <p:cNvPr id="97" name="Google Shape;97;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62500" lnSpcReduction="20000"/>
          </a:bodyPr>
          <a:lstStyle/>
          <a:p>
            <a:pPr indent="0" lvl="0" marL="0" rtl="0" algn="l">
              <a:spcBef>
                <a:spcPts val="0"/>
              </a:spcBef>
              <a:spcAft>
                <a:spcPts val="0"/>
              </a:spcAft>
              <a:buNone/>
            </a:pPr>
            <a:r>
              <a:rPr lang="en"/>
              <a:t>Question type:</a:t>
            </a:r>
            <a:endParaRPr/>
          </a:p>
          <a:p>
            <a:pPr indent="0" lvl="0" marL="0" rtl="0" algn="l">
              <a:spcBef>
                <a:spcPts val="1200"/>
              </a:spcBef>
              <a:spcAft>
                <a:spcPts val="0"/>
              </a:spcAft>
              <a:buNone/>
            </a:pPr>
            <a:r>
              <a:rPr lang="en"/>
              <a:t>What-if:</a:t>
            </a:r>
            <a:endParaRPr/>
          </a:p>
          <a:p>
            <a:pPr indent="-300037" lvl="0" marL="457200" rtl="0" algn="l">
              <a:spcBef>
                <a:spcPts val="1200"/>
              </a:spcBef>
              <a:spcAft>
                <a:spcPts val="0"/>
              </a:spcAft>
              <a:buSzPct val="100000"/>
              <a:buChar char="-"/>
            </a:pPr>
            <a:r>
              <a:rPr lang="en"/>
              <a:t>Signal Lost</a:t>
            </a:r>
            <a:endParaRPr/>
          </a:p>
          <a:p>
            <a:pPr indent="-284162" lvl="1" marL="914400" rtl="0" algn="l">
              <a:spcBef>
                <a:spcPts val="0"/>
              </a:spcBef>
              <a:spcAft>
                <a:spcPts val="0"/>
              </a:spcAft>
              <a:buSzPct val="100000"/>
              <a:buChar char="-"/>
            </a:pPr>
            <a:r>
              <a:rPr lang="en"/>
              <a:t>We need offline positioning and Error Prompt Module</a:t>
            </a:r>
            <a:endParaRPr/>
          </a:p>
          <a:p>
            <a:pPr indent="-300037" lvl="0" marL="457200" rtl="0" algn="l">
              <a:spcBef>
                <a:spcPts val="0"/>
              </a:spcBef>
              <a:spcAft>
                <a:spcPts val="0"/>
              </a:spcAft>
              <a:buSzPct val="100000"/>
              <a:buChar char="-"/>
            </a:pPr>
            <a:r>
              <a:rPr lang="en"/>
              <a:t>User miscalculated </a:t>
            </a:r>
            <a:r>
              <a:rPr lang="en"/>
              <a:t>steps</a:t>
            </a:r>
            <a:endParaRPr/>
          </a:p>
          <a:p>
            <a:pPr indent="-284162" lvl="1" marL="914400" rtl="0" algn="l">
              <a:spcBef>
                <a:spcPts val="0"/>
              </a:spcBef>
              <a:spcAft>
                <a:spcPts val="0"/>
              </a:spcAft>
              <a:buSzPct val="100000"/>
              <a:buChar char="-"/>
            </a:pPr>
            <a:r>
              <a:rPr lang="en"/>
              <a:t>It can automatic calibration of step size </a:t>
            </a:r>
            <a:endParaRPr/>
          </a:p>
          <a:p>
            <a:pPr indent="-300037" lvl="0" marL="457200" rtl="0" algn="l">
              <a:spcBef>
                <a:spcPts val="0"/>
              </a:spcBef>
              <a:spcAft>
                <a:spcPts val="0"/>
              </a:spcAft>
              <a:buSzPct val="100000"/>
              <a:buChar char="-"/>
            </a:pPr>
            <a:r>
              <a:rPr lang="en"/>
              <a:t>Voice can’t be heard due to noise</a:t>
            </a:r>
            <a:endParaRPr/>
          </a:p>
          <a:p>
            <a:pPr indent="-284162" lvl="1" marL="914400" rtl="0" algn="l">
              <a:spcBef>
                <a:spcPts val="0"/>
              </a:spcBef>
              <a:spcAft>
                <a:spcPts val="0"/>
              </a:spcAft>
              <a:buSzPct val="100000"/>
              <a:buChar char="-"/>
            </a:pPr>
            <a:r>
              <a:rPr lang="en"/>
              <a:t>We need </a:t>
            </a:r>
            <a:r>
              <a:rPr lang="en"/>
              <a:t>multimodal</a:t>
            </a:r>
            <a:r>
              <a:rPr lang="en"/>
              <a:t> output </a:t>
            </a:r>
            <a:endParaRPr/>
          </a:p>
          <a:p>
            <a:pPr indent="-300037" lvl="0" marL="457200" rtl="0" algn="l">
              <a:spcBef>
                <a:spcPts val="0"/>
              </a:spcBef>
              <a:spcAft>
                <a:spcPts val="0"/>
              </a:spcAft>
              <a:buSzPct val="100000"/>
              <a:buChar char="-"/>
            </a:pPr>
            <a:r>
              <a:rPr lang="en"/>
              <a:t>Low Battery</a:t>
            </a:r>
            <a:endParaRPr/>
          </a:p>
          <a:p>
            <a:pPr indent="-284162" lvl="1" marL="914400" rtl="0" algn="l">
              <a:spcBef>
                <a:spcPts val="0"/>
              </a:spcBef>
              <a:spcAft>
                <a:spcPts val="0"/>
              </a:spcAft>
              <a:buSzPct val="100000"/>
              <a:buChar char="-"/>
            </a:pPr>
            <a:r>
              <a:rPr lang="en"/>
              <a:t>Power monitoring module </a:t>
            </a:r>
            <a:endParaRPr/>
          </a:p>
          <a:p>
            <a:pPr indent="0" lvl="0" marL="0" rtl="0" algn="l">
              <a:spcBef>
                <a:spcPts val="1200"/>
              </a:spcBef>
              <a:spcAft>
                <a:spcPts val="0"/>
              </a:spcAft>
              <a:buNone/>
            </a:pPr>
            <a:r>
              <a:rPr lang="en"/>
              <a:t>Who:</a:t>
            </a:r>
            <a:endParaRPr/>
          </a:p>
          <a:p>
            <a:pPr indent="0" lvl="0" marL="0" rtl="0" algn="l">
              <a:spcBef>
                <a:spcPts val="1200"/>
              </a:spcBef>
              <a:spcAft>
                <a:spcPts val="0"/>
              </a:spcAft>
              <a:buNone/>
            </a:pPr>
            <a:r>
              <a:rPr lang="en"/>
              <a:t>Primary Actor: Stevie(user)</a:t>
            </a:r>
            <a:endParaRPr/>
          </a:p>
          <a:p>
            <a:pPr indent="0" lvl="0" marL="0" rtl="0" algn="l">
              <a:spcBef>
                <a:spcPts val="1200"/>
              </a:spcBef>
              <a:spcAft>
                <a:spcPts val="0"/>
              </a:spcAft>
              <a:buNone/>
            </a:pPr>
            <a:r>
              <a:rPr lang="en"/>
              <a:t>Secondary Actor: THEIA SYSTEM</a:t>
            </a:r>
            <a:endParaRPr/>
          </a:p>
          <a:p>
            <a:pPr indent="-300037" lvl="0" marL="457200" rtl="0" algn="l">
              <a:spcBef>
                <a:spcPts val="1200"/>
              </a:spcBef>
              <a:spcAft>
                <a:spcPts val="0"/>
              </a:spcAft>
              <a:buSzPct val="100000"/>
              <a:buChar char="-"/>
            </a:pPr>
            <a:r>
              <a:rPr lang="en"/>
              <a:t>Need additional actors, emergency c</a:t>
            </a:r>
            <a:r>
              <a:rPr lang="en"/>
              <a:t>ontact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Continue</a:t>
            </a:r>
            <a:endParaRPr/>
          </a:p>
        </p:txBody>
      </p:sp>
      <p:sp>
        <p:nvSpPr>
          <p:cNvPr id="103" name="Google Shape;103;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lang="en"/>
              <a:t>What kind of:</a:t>
            </a:r>
            <a:endParaRPr/>
          </a:p>
          <a:p>
            <a:pPr indent="0" lvl="0" marL="0" rtl="0" algn="l">
              <a:spcBef>
                <a:spcPts val="1200"/>
              </a:spcBef>
              <a:spcAft>
                <a:spcPts val="0"/>
              </a:spcAft>
              <a:buNone/>
            </a:pPr>
            <a:r>
              <a:rPr lang="en"/>
              <a:t>“What kinds of navigation are supported?”</a:t>
            </a:r>
            <a:endParaRPr/>
          </a:p>
          <a:p>
            <a:pPr indent="-325755" lvl="0" marL="457200" rtl="0" algn="l">
              <a:spcBef>
                <a:spcPts val="1200"/>
              </a:spcBef>
              <a:spcAft>
                <a:spcPts val="0"/>
              </a:spcAft>
              <a:buSzPct val="100000"/>
              <a:buChar char="-"/>
            </a:pPr>
            <a:r>
              <a:rPr lang="en"/>
              <a:t>Short indoor routes shown </a:t>
            </a:r>
            <a:endParaRPr/>
          </a:p>
          <a:p>
            <a:pPr indent="-304165" lvl="1" marL="914400" rtl="0" algn="l">
              <a:spcBef>
                <a:spcPts val="0"/>
              </a:spcBef>
              <a:spcAft>
                <a:spcPts val="0"/>
              </a:spcAft>
              <a:buSzPct val="100000"/>
              <a:buChar char="-"/>
            </a:pPr>
            <a:r>
              <a:rPr lang="en"/>
              <a:t>We need let this system to automatically determine the location and provide real-time notification guidance. </a:t>
            </a:r>
            <a:endParaRPr/>
          </a:p>
          <a:p>
            <a:pPr indent="0" lvl="0" marL="0" rtl="0" algn="l">
              <a:spcBef>
                <a:spcPts val="1200"/>
              </a:spcBef>
              <a:spcAft>
                <a:spcPts val="0"/>
              </a:spcAft>
              <a:buNone/>
            </a:pPr>
            <a:r>
              <a:rPr lang="en"/>
              <a:t>When:</a:t>
            </a:r>
            <a:endParaRPr/>
          </a:p>
          <a:p>
            <a:pPr indent="0" lvl="0" marL="0" rtl="0" algn="l">
              <a:spcBef>
                <a:spcPts val="1200"/>
              </a:spcBef>
              <a:spcAft>
                <a:spcPts val="0"/>
              </a:spcAft>
              <a:buNone/>
            </a:pPr>
            <a:r>
              <a:rPr lang="en"/>
              <a:t>Not stated, may be manual triggered,</a:t>
            </a:r>
            <a:endParaRPr/>
          </a:p>
          <a:p>
            <a:pPr indent="0" lvl="0" marL="0" rtl="0" algn="l">
              <a:spcBef>
                <a:spcPts val="1200"/>
              </a:spcBef>
              <a:spcAft>
                <a:spcPts val="0"/>
              </a:spcAft>
              <a:buNone/>
            </a:pPr>
            <a:r>
              <a:rPr lang="en"/>
              <a:t>How-to:</a:t>
            </a:r>
            <a:endParaRPr/>
          </a:p>
          <a:p>
            <a:pPr indent="0" lvl="0" marL="0" rtl="0" algn="l">
              <a:spcBef>
                <a:spcPts val="1200"/>
              </a:spcBef>
              <a:spcAft>
                <a:spcPts val="0"/>
              </a:spcAft>
              <a:buNone/>
            </a:pPr>
            <a:r>
              <a:rPr lang="en"/>
              <a:t>“Resolve conflict”</a:t>
            </a:r>
            <a:endParaRPr/>
          </a:p>
          <a:p>
            <a:pPr indent="-325755" lvl="0" marL="457200" rtl="0" algn="l">
              <a:spcBef>
                <a:spcPts val="1200"/>
              </a:spcBef>
              <a:spcAft>
                <a:spcPts val="0"/>
              </a:spcAft>
              <a:buSzPct val="100000"/>
              <a:buAutoNum type="arabicPeriod"/>
            </a:pPr>
            <a:r>
              <a:rPr lang="en"/>
              <a:t>Implement the features that mentioned in what if,</a:t>
            </a:r>
            <a:endParaRPr/>
          </a:p>
          <a:p>
            <a:pPr indent="-325755" lvl="0" marL="457200" rtl="0" algn="l">
              <a:spcBef>
                <a:spcPts val="0"/>
              </a:spcBef>
              <a:spcAft>
                <a:spcPts val="0"/>
              </a:spcAft>
              <a:buSzPct val="100000"/>
              <a:buAutoNum type="arabicPeriod"/>
            </a:pPr>
            <a:r>
              <a:rPr lang="en"/>
              <a:t>When meet some emergency situation(low power, Signal lost, etc.,) call emergency contact</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Summary + Comparison </a:t>
            </a:r>
            <a:endParaRPr/>
          </a:p>
        </p:txBody>
      </p:sp>
      <p:sp>
        <p:nvSpPr>
          <p:cNvPr id="109" name="Google Shape;109;p21"/>
          <p:cNvSpPr txBox="1"/>
          <p:nvPr>
            <p:ph idx="1" type="body"/>
          </p:nvPr>
        </p:nvSpPr>
        <p:spPr>
          <a:xfrm>
            <a:off x="311700" y="1152475"/>
            <a:ext cx="2853600" cy="36942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a:t>Cane</a:t>
            </a:r>
            <a:endParaRPr/>
          </a:p>
          <a:p>
            <a:pPr indent="0" lvl="0" marL="0" rtl="0" algn="l">
              <a:spcBef>
                <a:spcPts val="1200"/>
              </a:spcBef>
              <a:spcAft>
                <a:spcPts val="0"/>
              </a:spcAft>
              <a:buNone/>
            </a:pPr>
            <a:r>
              <a:rPr lang="en" sz="1400"/>
              <a:t>AS-IS</a:t>
            </a:r>
            <a:endParaRPr sz="1400"/>
          </a:p>
          <a:p>
            <a:pPr indent="-307975" lvl="0" marL="457200" rtl="0" algn="l">
              <a:lnSpc>
                <a:spcPct val="100000"/>
              </a:lnSpc>
              <a:spcBef>
                <a:spcPts val="1200"/>
              </a:spcBef>
              <a:spcAft>
                <a:spcPts val="0"/>
              </a:spcAft>
              <a:buSzPts val="1250"/>
              <a:buChar char="-"/>
            </a:pPr>
            <a:r>
              <a:rPr lang="en" sz="1250"/>
              <a:t>Stevie is trying to go to his next classroom with his cane</a:t>
            </a:r>
            <a:endParaRPr sz="1250"/>
          </a:p>
          <a:p>
            <a:pPr indent="-307975" lvl="0" marL="457200" rtl="0" algn="l">
              <a:spcBef>
                <a:spcPts val="0"/>
              </a:spcBef>
              <a:spcAft>
                <a:spcPts val="0"/>
              </a:spcAft>
              <a:buSzPts val="1250"/>
              <a:buChar char="-"/>
            </a:pPr>
            <a:r>
              <a:rPr lang="en" sz="1250"/>
              <a:t>He must remember the route and estimate when to turn based on landmarks (wall seams, door counts, echo changes)</a:t>
            </a:r>
            <a:endParaRPr sz="1250"/>
          </a:p>
          <a:p>
            <a:pPr indent="-307975" lvl="0" marL="457200" rtl="0" algn="l">
              <a:spcBef>
                <a:spcPts val="0"/>
              </a:spcBef>
              <a:spcAft>
                <a:spcPts val="0"/>
              </a:spcAft>
              <a:buSzPts val="1250"/>
              <a:buChar char="-"/>
            </a:pPr>
            <a:r>
              <a:rPr lang="en" sz="1250"/>
              <a:t>The cane detects obstacles but provides no turning info</a:t>
            </a:r>
            <a:endParaRPr sz="1250"/>
          </a:p>
          <a:p>
            <a:pPr indent="-307975" lvl="0" marL="457200" rtl="0" algn="l">
              <a:spcBef>
                <a:spcPts val="0"/>
              </a:spcBef>
              <a:spcAft>
                <a:spcPts val="0"/>
              </a:spcAft>
              <a:buSzPts val="1250"/>
              <a:buChar char="-"/>
            </a:pPr>
            <a:r>
              <a:rPr lang="en" sz="1250"/>
              <a:t>Stevie guesses the corner, turns a little too early, brushes the wall, then has to re-align and backtrack</a:t>
            </a:r>
            <a:endParaRPr sz="1250"/>
          </a:p>
          <a:p>
            <a:pPr indent="0" lvl="0" marL="0" rtl="0" algn="l">
              <a:spcBef>
                <a:spcPts val="1200"/>
              </a:spcBef>
              <a:spcAft>
                <a:spcPts val="1200"/>
              </a:spcAft>
              <a:buNone/>
            </a:pPr>
            <a:r>
              <a:t/>
            </a:r>
            <a:endParaRPr sz="1200"/>
          </a:p>
        </p:txBody>
      </p:sp>
      <p:sp>
        <p:nvSpPr>
          <p:cNvPr id="110" name="Google Shape;110;p21"/>
          <p:cNvSpPr txBox="1"/>
          <p:nvPr>
            <p:ph idx="1" type="body"/>
          </p:nvPr>
        </p:nvSpPr>
        <p:spPr>
          <a:xfrm>
            <a:off x="3216350" y="1152475"/>
            <a:ext cx="2853600" cy="3694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Guide Dog</a:t>
            </a:r>
            <a:endParaRPr/>
          </a:p>
          <a:p>
            <a:pPr indent="0" lvl="0" marL="0" rtl="0" algn="l">
              <a:spcBef>
                <a:spcPts val="1200"/>
              </a:spcBef>
              <a:spcAft>
                <a:spcPts val="0"/>
              </a:spcAft>
              <a:buNone/>
            </a:pPr>
            <a:r>
              <a:rPr lang="en" sz="1400"/>
              <a:t>AS-IS</a:t>
            </a:r>
            <a:endParaRPr sz="1200"/>
          </a:p>
          <a:p>
            <a:pPr indent="-304800" lvl="0" marL="457200" rtl="0" algn="l">
              <a:spcBef>
                <a:spcPts val="1200"/>
              </a:spcBef>
              <a:spcAft>
                <a:spcPts val="0"/>
              </a:spcAft>
              <a:buSzPts val="1200"/>
              <a:buChar char="-"/>
            </a:pPr>
            <a:r>
              <a:rPr lang="en" sz="1200"/>
              <a:t>Stevie is try to go to his next class with his guide dog</a:t>
            </a:r>
            <a:endParaRPr sz="1200"/>
          </a:p>
          <a:p>
            <a:pPr indent="-304800" lvl="0" marL="457200" rtl="0" algn="l">
              <a:spcBef>
                <a:spcPts val="0"/>
              </a:spcBef>
              <a:spcAft>
                <a:spcPts val="0"/>
              </a:spcAft>
              <a:buSzPts val="1200"/>
              <a:buChar char="-"/>
            </a:pPr>
            <a:r>
              <a:rPr lang="en" sz="1200"/>
              <a:t>The dog handles obstacles and keeps a safe path, but does not plan the route; Stevie must know when to issue “left”.</a:t>
            </a:r>
            <a:endParaRPr sz="1200"/>
          </a:p>
          <a:p>
            <a:pPr indent="-304800" lvl="0" marL="457200" rtl="0" algn="l">
              <a:spcBef>
                <a:spcPts val="0"/>
              </a:spcBef>
              <a:spcAft>
                <a:spcPts val="0"/>
              </a:spcAft>
              <a:buSzPts val="1200"/>
              <a:buChar char="-"/>
            </a:pPr>
            <a:r>
              <a:rPr lang="en" sz="1200"/>
              <a:t>Stevie misjudges the turn point; the team passes the correct corridor and must circle back.</a:t>
            </a:r>
            <a:endParaRPr sz="1200"/>
          </a:p>
          <a:p>
            <a:pPr indent="0" lvl="0" marL="0" rtl="0" algn="l">
              <a:spcBef>
                <a:spcPts val="1200"/>
              </a:spcBef>
              <a:spcAft>
                <a:spcPts val="1200"/>
              </a:spcAft>
              <a:buNone/>
            </a:pPr>
            <a:r>
              <a:t/>
            </a:r>
            <a:endParaRPr/>
          </a:p>
        </p:txBody>
      </p:sp>
      <p:sp>
        <p:nvSpPr>
          <p:cNvPr id="111" name="Google Shape;111;p21"/>
          <p:cNvSpPr txBox="1"/>
          <p:nvPr>
            <p:ph idx="1" type="body"/>
          </p:nvPr>
        </p:nvSpPr>
        <p:spPr>
          <a:xfrm>
            <a:off x="6205125" y="1152475"/>
            <a:ext cx="2853600" cy="3662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Theia App</a:t>
            </a:r>
            <a:endParaRPr/>
          </a:p>
          <a:p>
            <a:pPr indent="0" lvl="0" marL="0" rtl="0" algn="l">
              <a:spcBef>
                <a:spcPts val="1200"/>
              </a:spcBef>
              <a:spcAft>
                <a:spcPts val="0"/>
              </a:spcAft>
              <a:buNone/>
            </a:pPr>
            <a:r>
              <a:rPr lang="en" sz="1400"/>
              <a:t>TO-BE</a:t>
            </a:r>
            <a:endParaRPr sz="1200"/>
          </a:p>
          <a:p>
            <a:pPr indent="-304800" lvl="0" marL="457200" rtl="0" algn="l">
              <a:spcBef>
                <a:spcPts val="1200"/>
              </a:spcBef>
              <a:spcAft>
                <a:spcPts val="0"/>
              </a:spcAft>
              <a:buSzPts val="1200"/>
              <a:buChar char="-"/>
            </a:pPr>
            <a:r>
              <a:rPr lang="en" sz="1200"/>
              <a:t>The THEIA app asks Stevie to give his current location and the destination.</a:t>
            </a:r>
            <a:endParaRPr sz="1200"/>
          </a:p>
          <a:p>
            <a:pPr indent="-304800" lvl="0" marL="457200" rtl="0" algn="l">
              <a:spcBef>
                <a:spcPts val="0"/>
              </a:spcBef>
              <a:spcAft>
                <a:spcPts val="0"/>
              </a:spcAft>
              <a:buSzPts val="1200"/>
              <a:buChar char="-"/>
            </a:pPr>
            <a:r>
              <a:rPr lang="en" sz="1200"/>
              <a:t>The app calculates the route from the current location to the destination.</a:t>
            </a:r>
            <a:endParaRPr sz="1200"/>
          </a:p>
          <a:p>
            <a:pPr indent="-304800" lvl="0" marL="457200" rtl="0" algn="l">
              <a:spcBef>
                <a:spcPts val="0"/>
              </a:spcBef>
              <a:spcAft>
                <a:spcPts val="0"/>
              </a:spcAft>
              <a:buSzPts val="1200"/>
              <a:buChar char="-"/>
            </a:pPr>
            <a:r>
              <a:rPr lang="en" sz="1200"/>
              <a:t>THEIA tells Stevie to “walk ahead 10 steps, then turn left”</a:t>
            </a:r>
            <a:endParaRPr sz="1200"/>
          </a:p>
          <a:p>
            <a:pPr indent="-304800" lvl="0" marL="457200" rtl="0" algn="l">
              <a:spcBef>
                <a:spcPts val="0"/>
              </a:spcBef>
              <a:spcAft>
                <a:spcPts val="0"/>
              </a:spcAft>
              <a:buSzPts val="1200"/>
              <a:buChar char="-"/>
            </a:pPr>
            <a:r>
              <a:rPr lang="en" sz="1200"/>
              <a:t>Stevie successfully arrives at his destination.</a:t>
            </a:r>
            <a:endParaRPr sz="1200"/>
          </a:p>
          <a:p>
            <a:pPr indent="0" lvl="0" marL="0" rtl="0" algn="l">
              <a:spcBef>
                <a:spcPts val="1200"/>
              </a:spcBef>
              <a:spcAft>
                <a:spcPts val="12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